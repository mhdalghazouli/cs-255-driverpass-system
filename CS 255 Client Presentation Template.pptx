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1362" autoAdjust="0"/>
  </p:normalViewPr>
  <p:slideViewPr>
    <p:cSldViewPr snapToGrid="0">
      <p:cViewPr>
        <p:scale>
          <a:sx n="66" d="100"/>
          <a:sy n="66" d="100"/>
        </p:scale>
        <p:origin x="2256" y="416"/>
      </p:cViewPr>
      <p:guideLst/>
    </p:cSldViewPr>
  </p:slideViewPr>
  <p:notesTextViewPr>
    <p:cViewPr>
      <p:scale>
        <a:sx n="1" d="1"/>
        <a:sy n="1" d="1"/>
      </p:scale>
      <p:origin x="0" y="0"/>
    </p:cViewPr>
  </p:notesTextViewPr>
  <p:notesViewPr>
    <p:cSldViewPr snapToGrid="0">
      <p:cViewPr varScale="1">
        <p:scale>
          <a:sx n="83" d="100"/>
          <a:sy n="83" d="100"/>
        </p:scale>
        <p:origin x="3992"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cs typeface="Times New Roman" panose="02020603050405020304" pitchFamily="18" charset="0"/>
              </a:rPr>
              <a:t>This system includes both functional and nonfunctional requirements.</a:t>
            </a:r>
            <a:br>
              <a:rPr lang="en-US" dirty="0">
                <a:latin typeface="+mn-lt"/>
                <a:cs typeface="Times New Roman" panose="02020603050405020304" pitchFamily="18" charset="0"/>
              </a:rPr>
            </a:br>
            <a:br>
              <a:rPr lang="en-US" dirty="0">
                <a:latin typeface="+mn-lt"/>
                <a:cs typeface="Times New Roman" panose="02020603050405020304" pitchFamily="18" charset="0"/>
              </a:rPr>
            </a:br>
            <a:r>
              <a:rPr lang="en-US" dirty="0">
                <a:latin typeface="+mn-lt"/>
                <a:cs typeface="Times New Roman" panose="02020603050405020304" pitchFamily="18" charset="0"/>
              </a:rPr>
              <a:t>The functional requirements describe what the system should do. For example, users must be able to create accounts, log in, and schedule driving lessons. These features allow customers to easily interact with the system and manage their learning process.</a:t>
            </a:r>
            <a:br>
              <a:rPr lang="en-US" dirty="0">
                <a:latin typeface="+mn-lt"/>
                <a:cs typeface="Times New Roman" panose="02020603050405020304" pitchFamily="18" charset="0"/>
              </a:rPr>
            </a:br>
            <a:endParaRPr lang="en-US" dirty="0">
              <a:latin typeface="+mn-lt"/>
              <a:cs typeface="Times New Roman" panose="02020603050405020304" pitchFamily="18" charset="0"/>
            </a:endParaRPr>
          </a:p>
          <a:p>
            <a:r>
              <a:rPr lang="en-US" dirty="0">
                <a:latin typeface="+mn-lt"/>
                <a:cs typeface="Times New Roman" panose="02020603050405020304" pitchFamily="18" charset="0"/>
              </a:rPr>
              <a:t>The nonfunctional requirements focus on how the system performs. The system must be web-based so users can access it from anywhere, and it must protect user information to ensure privacy and security. These requirements help make the system reliable, secure, and easy to use for </a:t>
            </a:r>
            <a:r>
              <a:rPr lang="en-US" dirty="0" err="1">
                <a:latin typeface="+mn-lt"/>
                <a:cs typeface="Times New Roman" panose="02020603050405020304" pitchFamily="18" charset="0"/>
              </a:rPr>
              <a:t>DriverPass</a:t>
            </a:r>
            <a:r>
              <a:rPr lang="en-US" dirty="0">
                <a:latin typeface="+mn-lt"/>
                <a:cs typeface="Times New Roman" panose="02020603050405020304" pitchFamily="18" charset="0"/>
              </a:rPr>
              <a:t> customers and staff.</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This diagram shows how different people interact with the </a:t>
            </a:r>
            <a:r>
              <a:rPr lang="en-US" dirty="0" err="1">
                <a:latin typeface="Times New Roman" panose="02020603050405020304" pitchFamily="18" charset="0"/>
                <a:cs typeface="Times New Roman" panose="02020603050405020304" pitchFamily="18" charset="0"/>
              </a:rPr>
              <a:t>DriverPass</a:t>
            </a:r>
            <a:r>
              <a:rPr lang="en-US" dirty="0">
                <a:latin typeface="Times New Roman" panose="02020603050405020304" pitchFamily="18" charset="0"/>
                <a:cs typeface="Times New Roman" panose="02020603050405020304" pitchFamily="18" charset="0"/>
              </a:rPr>
              <a:t>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Customers can create accounts, log in, schedule lessons, and take practice tests.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Staff members, such as instructors and administrators, have their own responsibilities, like managing users, tracking progress, and generating reports.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design makes sure that each person has access to the features they need. It helps organize the system clearly and supports both customer activities and business operations.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steps a customer follows to schedule a driving lesson.</a:t>
            </a:r>
            <a:br>
              <a:rPr lang="en-US" dirty="0"/>
            </a:br>
            <a:r>
              <a:rPr lang="en-US" dirty="0"/>
              <a:t>First, the user logs in and selects the option to schedule a lesson. Then they choose a date and time. The system checks if that time is available.</a:t>
            </a:r>
            <a:br>
              <a:rPr lang="en-US" dirty="0"/>
            </a:br>
            <a:endParaRPr lang="en-US" dirty="0"/>
          </a:p>
          <a:p>
            <a:r>
              <a:rPr lang="en-US" dirty="0"/>
              <a:t>If the time is not available, the user is asked to choose another time. If it is available, the user confirms the booking, and the system saves the reservation and sends a confirmation.</a:t>
            </a:r>
            <a:br>
              <a:rPr lang="en-US" dirty="0"/>
            </a:br>
            <a:endParaRPr lang="en-US" dirty="0"/>
          </a:p>
          <a:p>
            <a:r>
              <a:rPr lang="en-US" dirty="0"/>
              <a:t>This process ensures that scheduling is simple and avoids conflicts, which helps improve the customer experience.</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an important part of the system design.</a:t>
            </a:r>
            <a:br>
              <a:rPr lang="en-US" dirty="0"/>
            </a:br>
            <a:r>
              <a:rPr lang="en-US" dirty="0"/>
              <a:t>Users must log in with secure credentials to access their accounts.</a:t>
            </a:r>
            <a:br>
              <a:rPr lang="en-US" dirty="0"/>
            </a:br>
            <a:r>
              <a:rPr lang="en-US" dirty="0"/>
              <a:t>Different users have different levels of access, so customers and staff only see what they need.</a:t>
            </a:r>
            <a:br>
              <a:rPr lang="en-US" dirty="0"/>
            </a:br>
            <a:endParaRPr lang="en-US" dirty="0"/>
          </a:p>
          <a:p>
            <a:r>
              <a:rPr lang="en-US" dirty="0"/>
              <a:t>The system also protects personal information and tracks important actions, such as bookings and changes. This helps prevent misuse and ensures accountability.</a:t>
            </a:r>
            <a:br>
              <a:rPr lang="en-US" dirty="0"/>
            </a:br>
            <a:endParaRPr lang="en-US" dirty="0"/>
          </a:p>
          <a:p>
            <a:r>
              <a:rPr lang="en-US" dirty="0"/>
              <a:t>These features help build trust and keep the system safe for all users.</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system provides many useful features, there are some limitations.</a:t>
            </a:r>
            <a:br>
              <a:rPr lang="en-US" dirty="0"/>
            </a:br>
            <a:r>
              <a:rPr lang="en-US" dirty="0"/>
              <a:t>It requires an internet connection, so users cannot access it offline.</a:t>
            </a:r>
            <a:br>
              <a:rPr lang="en-US" dirty="0"/>
            </a:br>
            <a:r>
              <a:rPr lang="en-US" dirty="0"/>
              <a:t>The system may also experience downtime for maintenance or updates.</a:t>
            </a:r>
            <a:br>
              <a:rPr lang="en-US" dirty="0"/>
            </a:br>
            <a:endParaRPr lang="en-US" dirty="0"/>
          </a:p>
          <a:p>
            <a:r>
              <a:rPr lang="en-US" dirty="0"/>
              <a:t>Additionally, the system is designed specifically for </a:t>
            </a:r>
            <a:r>
              <a:rPr lang="en-US" dirty="0" err="1"/>
              <a:t>DriverPass</a:t>
            </a:r>
            <a:r>
              <a:rPr lang="en-US" dirty="0"/>
              <a:t>, so it may need updates in the future to support new features or changes in requirements.</a:t>
            </a:r>
            <a:br>
              <a:rPr lang="en-US" dirty="0"/>
            </a:br>
            <a:endParaRPr lang="en-US" dirty="0"/>
          </a:p>
          <a:p>
            <a:r>
              <a:rPr lang="en-US" dirty="0"/>
              <a:t>Understanding these limitations helps set realistic expectations and allows for future improvements.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4/18/26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4/18/26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err="1">
                <a:solidFill>
                  <a:srgbClr val="FFFFFF"/>
                </a:solidFill>
              </a:rPr>
              <a:t>Mhd</a:t>
            </a:r>
            <a:r>
              <a:rPr lang="en-US" dirty="0">
                <a:solidFill>
                  <a:srgbClr val="FFFFFF"/>
                </a:solidFill>
              </a:rPr>
              <a:t> </a:t>
            </a:r>
            <a:r>
              <a:rPr lang="en-US" dirty="0" err="1">
                <a:solidFill>
                  <a:srgbClr val="FFFFFF"/>
                </a:solidFill>
              </a:rPr>
              <a:t>Alghazouli</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dirty="0">
                <a:cs typeface="Times New Roman" panose="02020603050405020304" pitchFamily="18" charset="0"/>
              </a:rPr>
              <a:t>Functional Requirements:</a:t>
            </a:r>
            <a:endParaRPr lang="en-US" sz="2400" dirty="0">
              <a:cs typeface="Times New Roman" panose="02020603050405020304" pitchFamily="18" charset="0"/>
            </a:endParaRPr>
          </a:p>
          <a:p>
            <a:pPr>
              <a:buFont typeface="Arial" panose="020B0604020202020204" pitchFamily="34" charset="0"/>
              <a:buChar char="•"/>
            </a:pPr>
            <a:r>
              <a:rPr lang="en-US" sz="2400" dirty="0">
                <a:cs typeface="Times New Roman" panose="02020603050405020304" pitchFamily="18" charset="0"/>
              </a:rPr>
              <a:t>Users can register and log in </a:t>
            </a:r>
          </a:p>
          <a:p>
            <a:pPr>
              <a:buFont typeface="Arial" panose="020B0604020202020204" pitchFamily="34" charset="0"/>
              <a:buChar char="•"/>
            </a:pPr>
            <a:r>
              <a:rPr lang="en-US" sz="2400" dirty="0">
                <a:cs typeface="Times New Roman" panose="02020603050405020304" pitchFamily="18" charset="0"/>
              </a:rPr>
              <a:t>Customers can schedule and manage driving lessons </a:t>
            </a:r>
          </a:p>
          <a:p>
            <a:pPr marL="0" indent="0">
              <a:buNone/>
            </a:pPr>
            <a:r>
              <a:rPr lang="en-US" sz="2400" b="1" dirty="0">
                <a:cs typeface="Times New Roman" panose="02020603050405020304" pitchFamily="18" charset="0"/>
              </a:rPr>
              <a:t>Nonfunctional Requirements</a:t>
            </a:r>
            <a:endParaRPr lang="en-US" sz="2400" dirty="0">
              <a:cs typeface="Times New Roman" panose="02020603050405020304" pitchFamily="18" charset="0"/>
            </a:endParaRPr>
          </a:p>
          <a:p>
            <a:pPr>
              <a:buFont typeface="Arial" panose="020B0604020202020204" pitchFamily="34" charset="0"/>
              <a:buChar char="•"/>
            </a:pPr>
            <a:r>
              <a:rPr lang="en-US" sz="2400" dirty="0">
                <a:cs typeface="Times New Roman" panose="02020603050405020304" pitchFamily="18" charset="0"/>
              </a:rPr>
              <a:t>The system must be accessible online (web-based) </a:t>
            </a:r>
          </a:p>
          <a:p>
            <a:pPr>
              <a:buFont typeface="Arial" panose="020B0604020202020204" pitchFamily="34" charset="0"/>
              <a:buChar char="•"/>
            </a:pPr>
            <a:r>
              <a:rPr lang="en-US" sz="2400" dirty="0">
                <a:cs typeface="Times New Roman" panose="02020603050405020304" pitchFamily="18" charset="0"/>
              </a:rPr>
              <a:t>The system must protect user data and accounts</a:t>
            </a:r>
          </a:p>
          <a:p>
            <a:pPr marL="0" indent="0">
              <a:buNone/>
            </a:pPr>
            <a:endParaRPr lang="en-US"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5" name="Picture 4" descr="A diagram of a diagram of a person&#10;&#10;Description automatically generated">
            <a:extLst>
              <a:ext uri="{FF2B5EF4-FFF2-40B4-BE49-F238E27FC236}">
                <a16:creationId xmlns:a16="http://schemas.microsoft.com/office/drawing/2014/main" id="{232EEB9F-505D-37E6-9229-289DB6BD0E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0148" y="130869"/>
            <a:ext cx="7101851" cy="5901631"/>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a:t>
            </a:r>
            <a:r>
              <a:rPr lang="en-US" sz="2400" b="1" dirty="0">
                <a:solidFill>
                  <a:srgbClr val="000000"/>
                </a:solidFill>
              </a:rPr>
              <a:t>one</a:t>
            </a:r>
            <a:r>
              <a:rPr lang="en-US" sz="2400" dirty="0">
                <a:solidFill>
                  <a:srgbClr val="000000"/>
                </a:solidFill>
              </a:rPr>
              <a:t> of your activity diagrams here.]</a:t>
            </a:r>
            <a:endParaRPr sz="2400" dirty="0">
              <a:solidFill>
                <a:srgbClr val="000000"/>
              </a:solidFill>
            </a:endParaRPr>
          </a:p>
        </p:txBody>
      </p:sp>
      <p:pic>
        <p:nvPicPr>
          <p:cNvPr id="5" name="Picture 4" descr="A diagram of a process&#10;&#10;Description automatically generated">
            <a:extLst>
              <a:ext uri="{FF2B5EF4-FFF2-40B4-BE49-F238E27FC236}">
                <a16:creationId xmlns:a16="http://schemas.microsoft.com/office/drawing/2014/main" id="{C0069CCC-B3A3-22BE-6C6D-E02422A6B8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2111" y="0"/>
            <a:ext cx="5146032" cy="6858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t>Secure user login and passwords</a:t>
            </a:r>
            <a:endParaRPr lang="en-US" sz="2400" dirty="0">
              <a:solidFill>
                <a:srgbClr val="000000"/>
              </a:solidFill>
            </a:endParaRPr>
          </a:p>
          <a:p>
            <a:r>
              <a:rPr lang="en-US" sz="2400" dirty="0"/>
              <a:t>Role-based access (different access for staff and customers)</a:t>
            </a:r>
            <a:endParaRPr lang="en-US" sz="2400" dirty="0">
              <a:solidFill>
                <a:srgbClr val="000000"/>
              </a:solidFill>
            </a:endParaRPr>
          </a:p>
          <a:p>
            <a:r>
              <a:rPr lang="en-US" sz="2400" dirty="0"/>
              <a:t>Protection of personal data</a:t>
            </a:r>
            <a:endParaRPr lang="en-US" sz="2400" dirty="0">
              <a:solidFill>
                <a:srgbClr val="000000"/>
              </a:solidFill>
            </a:endParaRPr>
          </a:p>
          <a:p>
            <a:r>
              <a:rPr lang="en-US" sz="2400" dirty="0"/>
              <a:t>Activity tracking for system actions</a:t>
            </a:r>
            <a:endParaRPr lang="en-US" sz="2400" dirty="0">
              <a:solidFill>
                <a:srgbClr val="000000"/>
              </a:solidFill>
            </a:endParaRP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t>Requires internet connection</a:t>
            </a:r>
            <a:endParaRPr lang="en-US" sz="2400" dirty="0">
              <a:solidFill>
                <a:srgbClr val="000000"/>
              </a:solidFill>
            </a:endParaRPr>
          </a:p>
          <a:p>
            <a:r>
              <a:rPr lang="en-US" sz="2400" dirty="0"/>
              <a:t>Depends on system availability (downtime possible)</a:t>
            </a:r>
            <a:endParaRPr lang="en-US" sz="2400" dirty="0">
              <a:solidFill>
                <a:srgbClr val="000000"/>
              </a:solidFill>
            </a:endParaRPr>
          </a:p>
          <a:p>
            <a:r>
              <a:rPr lang="en-US" sz="2400" dirty="0"/>
              <a:t>Limited to </a:t>
            </a:r>
            <a:r>
              <a:rPr lang="en-US" sz="2400" dirty="0" err="1"/>
              <a:t>DriverPass</a:t>
            </a:r>
            <a:r>
              <a:rPr lang="en-US" sz="2400" dirty="0"/>
              <a:t> services</a:t>
            </a:r>
            <a:endParaRPr lang="en-US" sz="2400" dirty="0">
              <a:solidFill>
                <a:srgbClr val="000000"/>
              </a:solidFill>
            </a:endParaRPr>
          </a:p>
          <a:p>
            <a:r>
              <a:rPr lang="en-US" sz="2400" dirty="0"/>
              <a:t>May require future updates and maintenance</a:t>
            </a:r>
            <a:endParaRPr lang="en-US"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1410</TotalTime>
  <Words>587</Words>
  <Application>Microsoft Macintosh PowerPoint</Application>
  <PresentationFormat>Widescreen</PresentationFormat>
  <Paragraphs>42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haya alghazouli</cp:lastModifiedBy>
  <cp:revision>22</cp:revision>
  <cp:lastPrinted>2026-04-19T02:20:57Z</cp:lastPrinted>
  <dcterms:created xsi:type="dcterms:W3CDTF">2019-10-14T02:36:52Z</dcterms:created>
  <dcterms:modified xsi:type="dcterms:W3CDTF">2026-04-19T02:23:46Z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